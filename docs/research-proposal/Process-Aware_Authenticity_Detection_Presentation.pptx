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89320"/>
            <a:ext cx="12191695" cy="73152"/>
          </a:xfrm>
          <a:prstGeom prst="rect">
            <a:avLst/>
          </a:prstGeom>
          <a:solidFill>
            <a:srgbClr val="C97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Process-Aware Authenticity Detection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in Supervised Programming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C9D6EE"/>
                </a:solidFill>
                <a:latin typeface="Calibri"/>
              </a:rPr>
              <a:t>Catching live, in-person proxy-typing that no current attendance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C9D6EE"/>
                </a:solidFill>
                <a:latin typeface="Calibri"/>
              </a:rPr>
              <a:t>or plagiarism system is built to detect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DAED1"/>
                </a:solidFill>
                <a:latin typeface="Calibri"/>
              </a:rPr>
              <a:t>M.Tech Research Proposal  ·  CodeHamsters, M.Tech CSE  ·  IIIT Surat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720B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Labs Verify Presence, Not Authorship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5A6472"/>
                </a:solidFill>
                <a:latin typeface="Calibri"/>
              </a:rPr>
              <a:t>A friend can sit in for 45 minutes and type live at a classmate's terminal, in full view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5A6472"/>
                </a:solidFill>
                <a:latin typeface="Calibri"/>
              </a:rPr>
              <a:t>of an instructor — and no current system is built to catch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606040"/>
            <a:ext cx="4937760" cy="1554480"/>
          </a:xfrm>
          <a:prstGeom prst="rect">
            <a:avLst/>
          </a:prstGeom>
          <a:solidFill>
            <a:srgbClr val="E7F6EC"/>
          </a:solidFill>
          <a:ln w="9525">
            <a:solidFill>
              <a:srgbClr val="2F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E6B3D"/>
                </a:solidFill>
                <a:latin typeface="Calibri"/>
              </a:rPr>
              <a:t>✅ Verified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00400"/>
            <a:ext cx="45720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5A6472"/>
                </a:solidFill>
                <a:latin typeface="Calibri"/>
              </a:rPr>
              <a:t>Physical identity &amp; presence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5A6472"/>
                </a:solidFill>
                <a:latin typeface="Calibri"/>
              </a:rPr>
              <a:t>ID card · biometric · face match · RFID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606040"/>
            <a:ext cx="4937760" cy="1554480"/>
          </a:xfrm>
          <a:prstGeom prst="rect">
            <a:avLst/>
          </a:prstGeom>
          <a:solidFill>
            <a:srgbClr val="F9E4E6"/>
          </a:solidFill>
          <a:ln w="9525">
            <a:solidFill>
              <a:srgbClr val="B2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7432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23A48"/>
                </a:solidFill>
                <a:latin typeface="Calibri"/>
              </a:rPr>
              <a:t>❌ Not verified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200400"/>
            <a:ext cx="45720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5A6472"/>
                </a:solidFill>
                <a:latin typeface="Calibri"/>
              </a:rPr>
              <a:t>Authorship of the code being typed, live,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5A6472"/>
                </a:solidFill>
                <a:latin typeface="Calibri"/>
              </a:rPr>
              <a:t>in that same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1">
                <a:solidFill>
                  <a:srgbClr val="1B2A4A"/>
                </a:solidFill>
                <a:latin typeface="Calibri"/>
              </a:rPr>
              <a:t>This proposal asks a narrow, previously unasked question: once a student is physically</a:t>
            </a:r>
          </a:p>
          <a:p>
            <a:pPr algn="l">
              <a:lnSpc>
                <a:spcPct val="130000"/>
              </a:lnSpc>
            </a:pPr>
            <a:r>
              <a:rPr sz="1650" b="0" i="1">
                <a:solidFill>
                  <a:srgbClr val="1B2A4A"/>
                </a:solidFill>
                <a:latin typeface="Calibri"/>
              </a:rPr>
              <a:t>present and identity-verified, is anyone checking that the hands on the keyboard are theirs?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720B"/>
                </a:solidFill>
                <a:latin typeface="Calibri"/>
              </a:rPr>
              <a:t>LITERATURE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Two Active Research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394960" cy="59436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Thread 1 — Process-Driven Authenticity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5A6472"/>
                </a:solidFill>
                <a:latin typeface="Calibri"/>
              </a:rPr>
              <a:t>•  Targets: take-home, asynchronous cheating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5A6472"/>
                </a:solidFill>
                <a:latin typeface="Calibri"/>
              </a:rPr>
              <a:t>•  Signal: keystroke timing, edit sequences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5A6472"/>
                </a:solidFill>
                <a:latin typeface="Calibri"/>
              </a:rPr>
              <a:t>•  Adversary: a student alone, unlimited time,</a:t>
            </a:r>
            <a:br/>
            <a:r>
              <a:rPr sz="1450">
                <a:solidFill>
                  <a:srgbClr val="5A6472"/>
                </a:solidFill>
                <a:latin typeface="Calibri"/>
              </a:rPr>
              <a:t>disguising an LLM answer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5A6472"/>
                </a:solidFill>
                <a:latin typeface="Calibri"/>
              </a:rPr>
              <a:t>•  Key work: Nosi IDE (2026) · keystroke-dishonesty</a:t>
            </a:r>
            <a:br/>
            <a:r>
              <a:rPr sz="1450">
                <a:solidFill>
                  <a:srgbClr val="5A6472"/>
                </a:solidFill>
                <a:latin typeface="Calibri"/>
              </a:rPr>
              <a:t>papers (2025) · Crossley et al. (2024) · CodeBench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5394960" cy="594360"/>
          </a:xfrm>
          <a:prstGeom prst="rect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Thread 2 — Physical Proxy Attendance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5A6472"/>
                </a:solidFill>
                <a:latin typeface="Calibri"/>
              </a:rPr>
              <a:t>•  Targets: impersonation at check-in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5A6472"/>
                </a:solidFill>
                <a:latin typeface="Calibri"/>
              </a:rPr>
              <a:t>•  Signal: face match, RFID, weight sensors, biometrics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5A6472"/>
                </a:solidFill>
                <a:latin typeface="Calibri"/>
              </a:rPr>
              <a:t>•  Adversary: someone else physically checks in</a:t>
            </a:r>
            <a:br/>
            <a:r>
              <a:rPr sz="1450">
                <a:solidFill>
                  <a:srgbClr val="5A6472"/>
                </a:solidFill>
                <a:latin typeface="Calibri"/>
              </a:rPr>
              <a:t>on your behalf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5A6472"/>
                </a:solidFill>
                <a:latin typeface="Calibri"/>
              </a:rPr>
              <a:t>•  Key work: Ege &amp; Özdemir (2026, RFID+weight) ·</a:t>
            </a:r>
            <a:br/>
            <a:r>
              <a:rPr sz="1450">
                <a:solidFill>
                  <a:srgbClr val="5A6472"/>
                </a:solidFill>
                <a:latin typeface="Calibri"/>
              </a:rPr>
              <a:t>facial-recognition CCTV · NFC/biometric check-in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1">
                <a:solidFill>
                  <a:srgbClr val="C9720B"/>
                </a:solidFill>
                <a:latin typeface="Calibri"/>
              </a:rPr>
              <a:t>Neither literature covers a student who is physically present and identity-verified, while someone else does the actual coding live, under supervision.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720B"/>
                </a:solidFill>
                <a:latin typeface="Calibri"/>
              </a:rP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The Unaddressed Intersection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01_research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903" y="1417320"/>
            <a:ext cx="8383887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720B"/>
                </a:solidFill>
                <a:latin typeface="Calibri"/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What's Confirmed, What's Still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960120"/>
          </a:xfrm>
          <a:prstGeom prst="rect">
            <a:avLst/>
          </a:prstGeom>
          <a:solidFill>
            <a:srgbClr val="F7F8FA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01368"/>
            <a:ext cx="7589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A4A"/>
                </a:solidFill>
                <a:latin typeface="Calibri"/>
              </a:rPr>
              <a:t>CodeBench collected fine-grained data from 2,058 students,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A4A"/>
                </a:solidFill>
                <a:latin typeface="Calibri"/>
              </a:rPr>
              <a:t>16 CS1 courses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94767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E6B3D"/>
                </a:solidFill>
                <a:latin typeface="Calibri"/>
              </a:rPr>
              <a:t>✅ Confirmed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88920"/>
            <a:ext cx="11064240" cy="960120"/>
          </a:xfrm>
          <a:prstGeom prst="rect">
            <a:avLst/>
          </a:prstGeom>
          <a:solidFill>
            <a:srgbClr val="F7F8FA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98648"/>
            <a:ext cx="7589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A4A"/>
                </a:solidFill>
                <a:latin typeface="Calibri"/>
              </a:rPr>
              <a:t>Sequential/clustering analysis of programming trajectories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A4A"/>
                </a:solidFill>
                <a:latin typeface="Calibri"/>
              </a:rPr>
              <a:t>predicts learning 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304495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E6B3D"/>
                </a:solidFill>
                <a:latin typeface="Calibri"/>
              </a:rPr>
              <a:t>✅ Confirmed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86200"/>
            <a:ext cx="11064240" cy="960120"/>
          </a:xfrm>
          <a:prstGeom prst="rect">
            <a:avLst/>
          </a:prstGeom>
          <a:solidFill>
            <a:srgbClr val="F7F8FA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95928"/>
            <a:ext cx="7589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A4A"/>
                </a:solidFill>
                <a:latin typeface="Calibri"/>
              </a:rPr>
              <a:t>AST-evolution / structural-jump detection for pasted code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A4A"/>
                </a:solidFill>
                <a:latin typeface="Calibri"/>
              </a:rPr>
              <a:t>as a live, single-session anomaly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414223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C9720B"/>
                </a:solidFill>
                <a:latin typeface="Calibri"/>
              </a:rPr>
              <a:t>⚠️ Open application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83480"/>
            <a:ext cx="11064240" cy="960120"/>
          </a:xfrm>
          <a:prstGeom prst="rect">
            <a:avLst/>
          </a:prstGeom>
          <a:solidFill>
            <a:srgbClr val="F7F8FA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093208"/>
            <a:ext cx="7589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A4A"/>
                </a:solidFill>
                <a:latin typeface="Calibri"/>
              </a:rPr>
              <a:t>Proxy-attendance research uses IDE process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523951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B23A48"/>
                </a:solidFill>
                <a:latin typeface="Calibri"/>
              </a:rPr>
              <a:t>❌ Not found — confirms the gap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720B"/>
                </a:solidFill>
                <a:latin typeface="Calibri"/>
              </a:rPr>
              <a:t>COMPARATIVE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Where the Proposed Study Sits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103120" cy="5669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609344"/>
            <a:ext cx="195681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554480"/>
            <a:ext cx="3108960" cy="5669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9192" y="1609344"/>
            <a:ext cx="296265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Process-Driven Work</a:t>
            </a:r>
          </a:p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(Nosi IDE, keystroke papers)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554480"/>
            <a:ext cx="3108960" cy="5669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79592" y="1609344"/>
            <a:ext cx="296265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Attendance Systems</a:t>
            </a:r>
          </a:p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(RFID / biometric)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840" y="1554480"/>
            <a:ext cx="2697480" cy="566928"/>
          </a:xfrm>
          <a:prstGeom prst="rect">
            <a:avLst/>
          </a:prstGeom>
          <a:solidFill>
            <a:srgbClr val="C97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1609344"/>
            <a:ext cx="255117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Proposed Study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21408"/>
            <a:ext cx="2103120" cy="960120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176272"/>
            <a:ext cx="195681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B2A4A"/>
                </a:solidFill>
                <a:latin typeface="Calibri"/>
              </a:rPr>
              <a:t>Adversary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2121408"/>
            <a:ext cx="3108960" cy="960120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79192" y="2176272"/>
            <a:ext cx="296265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2A4A"/>
                </a:solidFill>
                <a:latin typeface="Calibri"/>
              </a:rPr>
              <a:t>Solo student, at home,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2A4A"/>
                </a:solidFill>
                <a:latin typeface="Calibri"/>
              </a:rPr>
              <a:t>unlimited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6440" y="2121408"/>
            <a:ext cx="3108960" cy="960120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9592" y="2176272"/>
            <a:ext cx="296265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2A4A"/>
                </a:solidFill>
                <a:latin typeface="Calibri"/>
              </a:rPr>
              <a:t>Someone else checks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2A4A"/>
                </a:solidFill>
                <a:latin typeface="Calibri"/>
              </a:rPr>
              <a:t>in for you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2121408"/>
            <a:ext cx="2697480" cy="960120"/>
          </a:xfrm>
          <a:prstGeom prst="rect">
            <a:avLst/>
          </a:prstGeom>
          <a:solidFill>
            <a:srgbClr val="FCEFDA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9992" y="2176272"/>
            <a:ext cx="255117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7A3E00"/>
                </a:solidFill>
                <a:latin typeface="Calibri"/>
              </a:rPr>
              <a:t>Someone else types for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7A3E00"/>
                </a:solidFill>
                <a:latin typeface="Calibri"/>
              </a:rPr>
              <a:t>you, live, in the room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81528"/>
            <a:ext cx="2103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136392"/>
            <a:ext cx="195681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B2A4A"/>
                </a:solidFill>
                <a:latin typeface="Calibri"/>
              </a:rPr>
              <a:t>Setting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3081528"/>
            <a:ext cx="31089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79192" y="3136392"/>
            <a:ext cx="296265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2A4A"/>
                </a:solidFill>
                <a:latin typeface="Calibri"/>
              </a:rPr>
              <a:t>Take-home / asynchronous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3081528"/>
            <a:ext cx="31089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79592" y="3136392"/>
            <a:ext cx="296265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2A4A"/>
                </a:solidFill>
                <a:latin typeface="Calibri"/>
              </a:rPr>
              <a:t>Entry checkpoint 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3081528"/>
            <a:ext cx="2697480" cy="960120"/>
          </a:xfrm>
          <a:prstGeom prst="rect">
            <a:avLst/>
          </a:prstGeom>
          <a:solidFill>
            <a:srgbClr val="FCEFDA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9992" y="3136392"/>
            <a:ext cx="255117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7A3E00"/>
                </a:solidFill>
                <a:latin typeface="Calibri"/>
              </a:rPr>
              <a:t>Supervised, in-session lab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41648"/>
            <a:ext cx="2103120" cy="960120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4096512"/>
            <a:ext cx="195681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B2A4A"/>
                </a:solidFill>
                <a:latin typeface="Calibri"/>
              </a:rPr>
              <a:t>Signal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4041648"/>
            <a:ext cx="3108960" cy="960120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79192" y="4096512"/>
            <a:ext cx="296265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2A4A"/>
                </a:solidFill>
                <a:latin typeface="Calibri"/>
              </a:rPr>
              <a:t>Keystroke IAT,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2A4A"/>
                </a:solidFill>
                <a:latin typeface="Calibri"/>
              </a:rPr>
              <a:t>edit sequences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06440" y="4041648"/>
            <a:ext cx="3108960" cy="960120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79592" y="4096512"/>
            <a:ext cx="296265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2A4A"/>
                </a:solidFill>
                <a:latin typeface="Calibri"/>
              </a:rPr>
              <a:t>Face / RFID / weight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6840" y="4041648"/>
            <a:ext cx="2697480" cy="960120"/>
          </a:xfrm>
          <a:prstGeom prst="rect">
            <a:avLst/>
          </a:prstGeom>
          <a:solidFill>
            <a:srgbClr val="FCEFDA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79992" y="4096512"/>
            <a:ext cx="255117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7A3E00"/>
                </a:solidFill>
                <a:latin typeface="Calibri"/>
              </a:rPr>
              <a:t>Keystroke IAT + edit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7A3E00"/>
                </a:solidFill>
                <a:latin typeface="Calibri"/>
              </a:rPr>
              <a:t>sequence + AST jumps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001768"/>
            <a:ext cx="2103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5056632"/>
            <a:ext cx="195681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B2A4A"/>
                </a:solidFill>
                <a:latin typeface="Calibri"/>
              </a:rPr>
              <a:t>Ground truth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06040" y="5001768"/>
            <a:ext cx="31089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79192" y="5056632"/>
            <a:ext cx="296265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2A4A"/>
                </a:solidFill>
                <a:latin typeface="Calibri"/>
              </a:rPr>
              <a:t>N=5 proof-of-concept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2A4A"/>
                </a:solidFill>
                <a:latin typeface="Calibri"/>
              </a:rPr>
              <a:t>(Nosi)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06440" y="5001768"/>
            <a:ext cx="31089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79592" y="5056632"/>
            <a:ext cx="296265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2A4A"/>
                </a:solidFill>
                <a:latin typeface="Calibri"/>
              </a:rPr>
              <a:t>Sensor accuracy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2A4A"/>
                </a:solidFill>
                <a:latin typeface="Calibri"/>
              </a:rPr>
              <a:t>benchmarks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06840" y="5001768"/>
            <a:ext cx="2697480" cy="960120"/>
          </a:xfrm>
          <a:prstGeom prst="rect">
            <a:avLst/>
          </a:prstGeom>
          <a:solidFill>
            <a:srgbClr val="FCEFDA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79992" y="5056632"/>
            <a:ext cx="255117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7A3E00"/>
                </a:solidFill>
                <a:latin typeface="Calibri"/>
              </a:rPr>
              <a:t>Controlled in-lab groups: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7A3E00"/>
                </a:solidFill>
                <a:latin typeface="Calibri"/>
              </a:rPr>
              <a:t>genuine/proxy/minimal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720B"/>
                </a:solidFill>
                <a:latin typeface="Calibri"/>
              </a:rP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Research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10332720" cy="23774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148840"/>
            <a:ext cx="9601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Can IDE-level process signals — keystroke timing, edit/execution</a:t>
            </a:r>
          </a:p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sequences, and structural code jumps — distinguish a student's own</a:t>
            </a:r>
          </a:p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authentic in-lab work from proxy-typed or minimally-engaged work, and</a:t>
            </a:r>
          </a:p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do they generalize better or worse than the equivalent signals already</a:t>
            </a:r>
          </a:p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shown to detect take-home LLM-scribing?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2628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1">
                <a:solidFill>
                  <a:srgbClr val="5A6472"/>
                </a:solidFill>
                <a:latin typeface="Calibri"/>
              </a:rPr>
              <a:t>This positions the thesis directly against Lueder et al. (2026, Nosi IDE) and the 2024–25 keystroke-dishonesty line of work — extending them into an untested adversary setting rather than re-deriving their framing. Either outcome (the signals transfer, or they don't) is a publishable result.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720B"/>
                </a:solidFill>
                <a:latin typeface="Calibri"/>
              </a:rPr>
              <a:t>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System: A Process-Instrumented Lab 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02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737360"/>
            <a:ext cx="11155680" cy="3459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472"/>
                </a:solidFill>
                <a:latin typeface="Calibri"/>
              </a:rPr>
              <a:t>Key design choice: unlike Nosi IDE (encrypted, take-home, N=5), this system runs on lab workstations already under instructor supervision.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720B"/>
                </a:solidFill>
                <a:latin typeface="Calibri"/>
              </a:rPr>
              <a:t>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Controlled Ground-Truth Study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03_study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638" y="1417320"/>
            <a:ext cx="7718417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720B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Ethics &amp; Scope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5394960" cy="4206240"/>
          </a:xfrm>
          <a:prstGeom prst="rect">
            <a:avLst/>
          </a:prstGeom>
          <a:solidFill>
            <a:srgbClr val="F7F8FA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23A48"/>
                </a:solidFill>
                <a:latin typeface="Calibri"/>
              </a:rPr>
              <a:t>Ethics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5A6472"/>
                </a:solidFill>
                <a:latin typeface="Calibri"/>
              </a:rPr>
              <a:t>•  Keystroke logs can act as a biometric identifier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5A6472"/>
                </a:solidFill>
                <a:latin typeface="Calibri"/>
              </a:rPr>
              <a:t>•  Requires a de-identification plan before any deployment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5A6472"/>
                </a:solidFill>
                <a:latin typeface="Calibri"/>
              </a:rPr>
              <a:t>•  IRB / ethics approval required before deployment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5A6472"/>
                </a:solidFill>
                <a:latin typeface="Calibri"/>
              </a:rPr>
              <a:t>•  Any published dataset needs the same safeguards</a:t>
            </a:r>
            <a:br/>
            <a:r>
              <a:rPr sz="1450">
                <a:solidFill>
                  <a:srgbClr val="5A6472"/>
                </a:solidFill>
                <a:latin typeface="Calibri"/>
              </a:rPr>
              <a:t>discussed in prior keystroke-data surveys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600200"/>
            <a:ext cx="5394960" cy="4206240"/>
          </a:xfrm>
          <a:prstGeom prst="rect">
            <a:avLst/>
          </a:prstGeom>
          <a:solidFill>
            <a:srgbClr val="F7F8FA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5AAC"/>
                </a:solidFill>
                <a:latin typeface="Calibri"/>
              </a:rPr>
              <a:t>Scope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5A6472"/>
                </a:solidFill>
                <a:latin typeface="Calibri"/>
              </a:rPr>
              <a:t>•  Original pitch suggested 5 parallel research models across</a:t>
            </a:r>
            <a:br/>
            <a:r>
              <a:rPr sz="1450">
                <a:solidFill>
                  <a:srgbClr val="5A6472"/>
                </a:solidFill>
                <a:latin typeface="Calibri"/>
              </a:rPr>
              <a:t>100–300 students for 8–12 weeks — multiple papers' worth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5A6472"/>
                </a:solidFill>
                <a:latin typeface="Calibri"/>
              </a:rPr>
              <a:t>•  This thesis scopes to ONE defensible contribution:</a:t>
            </a:r>
            <a:br/>
            <a:r>
              <a:rPr sz="1450">
                <a:solidFill>
                  <a:srgbClr val="5A6472"/>
                </a:solidFill>
                <a:latin typeface="Calibri"/>
              </a:rPr>
              <a:t>the controlled authenticity-classification study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5A6472"/>
                </a:solidFill>
                <a:latin typeface="Calibri"/>
              </a:rPr>
              <a:t>•  Engagement modeling &amp; learning-outcome prediction are</a:t>
            </a:r>
            <a:br/>
            <a:r>
              <a:rPr sz="1450">
                <a:solidFill>
                  <a:srgbClr val="5A6472"/>
                </a:solidFill>
                <a:latin typeface="Calibri"/>
              </a:rPr>
              <a:t>labeled future work, not promised deliverables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720B"/>
                </a:solidFill>
                <a:latin typeface="Calibri"/>
              </a:rPr>
              <a:t>PUTTING IT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Research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04_research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581" y="1417320"/>
            <a:ext cx="4622532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720B"/>
                </a:solidFill>
                <a:latin typeface="Calibri"/>
              </a:rPr>
              <a:t>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Expected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640080" cy="960120"/>
          </a:xfrm>
          <a:prstGeom prst="rect">
            <a:avLst/>
          </a:prstGeom>
          <a:solidFill>
            <a:srgbClr val="C97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6400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737360"/>
            <a:ext cx="10332720" cy="960120"/>
          </a:xfrm>
          <a:prstGeom prst="rect">
            <a:avLst/>
          </a:prstGeom>
          <a:solidFill>
            <a:srgbClr val="F7F8FA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1810512"/>
            <a:ext cx="9875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B2A4A"/>
                </a:solidFill>
                <a:latin typeface="Calibri"/>
              </a:rPr>
              <a:t>First controlled comparison of take-home authenticity signals (keystroke IAT) against a live, in-person proxy-typing adversary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34640"/>
            <a:ext cx="640080" cy="960120"/>
          </a:xfrm>
          <a:prstGeom prst="rect">
            <a:avLst/>
          </a:prstGeom>
          <a:solidFill>
            <a:srgbClr val="C97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6400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2834640"/>
            <a:ext cx="10332720" cy="960120"/>
          </a:xfrm>
          <a:prstGeom prst="rect">
            <a:avLst/>
          </a:prstGeom>
          <a:solidFill>
            <a:srgbClr val="F7F8FA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907792"/>
            <a:ext cx="9875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B2A4A"/>
                </a:solidFill>
                <a:latin typeface="Calibri"/>
              </a:rPr>
              <a:t>A ground-truth methodology using in-lab controlled groups instead of small asynchronous proof-of-concept studies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640080" cy="960120"/>
          </a:xfrm>
          <a:prstGeom prst="rect">
            <a:avLst/>
          </a:prstGeom>
          <a:solidFill>
            <a:srgbClr val="C97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6400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3931920"/>
            <a:ext cx="10332720" cy="960120"/>
          </a:xfrm>
          <a:prstGeom prst="rect">
            <a:avLst/>
          </a:prstGeom>
          <a:solidFill>
            <a:srgbClr val="F7F8FA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4005072"/>
            <a:ext cx="9875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B2A4A"/>
                </a:solidFill>
                <a:latin typeface="Calibri"/>
              </a:rPr>
              <a:t>An empirical answer to whether existing keystroke/process features transfer across adversary settings — a positive or a null result both add value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29200"/>
            <a:ext cx="640080" cy="960120"/>
          </a:xfrm>
          <a:prstGeom prst="rect">
            <a:avLst/>
          </a:prstGeom>
          <a:solidFill>
            <a:srgbClr val="C97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6400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5029200"/>
            <a:ext cx="10332720" cy="960120"/>
          </a:xfrm>
          <a:prstGeom prst="rect">
            <a:avLst/>
          </a:prstGeom>
          <a:solidFill>
            <a:srgbClr val="F7F8FA"/>
          </a:solidFill>
          <a:ln w="9525">
            <a:solidFill>
              <a:srgbClr val="DD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760" y="5102352"/>
            <a:ext cx="9875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B2A4A"/>
                </a:solidFill>
                <a:latin typeface="Calibri"/>
              </a:rPr>
              <a:t>A scoped, deployable instructor-facing flagging tool for supervised programming labs specifically (distinct from Nosi's take-home use case)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89320"/>
            <a:ext cx="12191695" cy="73152"/>
          </a:xfrm>
          <a:prstGeom prst="rect">
            <a:avLst/>
          </a:prstGeom>
          <a:solidFill>
            <a:srgbClr val="C97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9D6EE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DAED1"/>
                </a:solidFill>
                <a:latin typeface="Calibri"/>
              </a:rPr>
              <a:t>CodeHamsters, M.Tech CSE  ·  IIIT Surat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